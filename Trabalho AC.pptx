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60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237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69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18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500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4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8894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41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29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36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366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14304-182B-43D2-81B7-3F1DE7006166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FE9EC-8A7B-4264-9EB8-5F544E4D0E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45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nbrasil.com.br/" TargetMode="External"/><Relationship Id="rId2" Type="http://schemas.openxmlformats.org/officeDocument/2006/relationships/hyperlink" Target="https://g1.globo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atgpt.com/" TargetMode="External"/><Relationship Id="rId4" Type="http://schemas.openxmlformats.org/officeDocument/2006/relationships/hyperlink" Target="https://www.goo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25EE3-C539-4258-B9DE-1046D3612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979" y="243589"/>
            <a:ext cx="9144000" cy="991445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Arial Black" panose="020B0A04020102020204" pitchFamily="34" charset="0"/>
              </a:rPr>
              <a:t>Trabalho AC – Dark Patterns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6E3949-B5A3-48E6-83EA-6740F3D1B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7787" y="5783985"/>
            <a:ext cx="9144000" cy="902101"/>
          </a:xfrm>
        </p:spPr>
        <p:txBody>
          <a:bodyPr>
            <a:normAutofit/>
          </a:bodyPr>
          <a:lstStyle/>
          <a:p>
            <a:pPr algn="r"/>
            <a:r>
              <a:rPr lang="pt-BR" sz="1400" dirty="0">
                <a:latin typeface="Arial Black" panose="020B0A04020102020204" pitchFamily="34" charset="0"/>
              </a:rPr>
              <a:t>		João Pedro Rodrigues Bezamat, 202301216109, Análise e Projeto de Sistemas.</a:t>
            </a:r>
          </a:p>
        </p:txBody>
      </p:sp>
    </p:spTree>
    <p:extLst>
      <p:ext uri="{BB962C8B-B14F-4D97-AF65-F5344CB8AC3E}">
        <p14:creationId xmlns:p14="http://schemas.microsoft.com/office/powerpoint/2010/main" val="393755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3B974-5187-43D4-85C9-3E95DCDD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Arial Black" panose="020B0A04020102020204" pitchFamily="34" charset="0"/>
              </a:rPr>
              <a:t>O que são Dark Patterns: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04F11A-04CE-40E1-B611-B9AF8CF12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Dark Patterns é um termo popularizado por Harry Brignull, especialista em UX. Esse termo é usado para se referir a estratégias e decisões no design de sites e aplicativos, tomadas por empresas, de modo a induzir e manipular o comportamento do usuário. Dos tipos estudados(disfarce de anúncio,dificultar o cancelamento,opções enganosas,criar falsa urgência, consentimento forçado, etc.), decidi escolher os tipo “opções enganosas” para esta apresentação. De modo que explicarei em mais detalhes sobre o que se trata, e também mostrarei alguns exemplos reais sobre essa prática, que é bastante comum no nosso cotidiano.</a:t>
            </a:r>
          </a:p>
        </p:txBody>
      </p:sp>
    </p:spTree>
    <p:extLst>
      <p:ext uri="{BB962C8B-B14F-4D97-AF65-F5344CB8AC3E}">
        <p14:creationId xmlns:p14="http://schemas.microsoft.com/office/powerpoint/2010/main" val="320326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7A365-4230-4749-912F-AAE7486C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Arial Black" panose="020B0A04020102020204" pitchFamily="34" charset="0"/>
              </a:rPr>
              <a:t>Opções enganosas, Google, e o uso de “cookies”: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A0B209-D753-4B67-808A-66F548601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1800" dirty="0">
                <a:latin typeface="Arial Black" panose="020B0A04020102020204" pitchFamily="34" charset="0"/>
              </a:rPr>
              <a:t>Não é nenhuma novidade que você tenha que aceitar cookies para acessar quase tudo na internet hoje em dia. A grande questão é como as grandes empresas utilizam de opções enganosas para conseguir acesso a eles. Segue um exemplo na imagem para ser discutido mais a fundo:(site do G1)</a:t>
            </a:r>
          </a:p>
          <a:p>
            <a:endParaRPr lang="pt-BR" sz="1800" dirty="0">
              <a:latin typeface="Arial Black" panose="020B0A04020102020204" pitchFamily="34" charset="0"/>
            </a:endParaRPr>
          </a:p>
          <a:p>
            <a:endParaRPr lang="pt-BR" sz="1800" dirty="0">
              <a:latin typeface="Arial Black" panose="020B0A04020102020204" pitchFamily="34" charset="0"/>
            </a:endParaRPr>
          </a:p>
          <a:p>
            <a:endParaRPr lang="pt-BR" sz="1800" dirty="0">
              <a:latin typeface="Arial Black" panose="020B0A04020102020204" pitchFamily="34" charset="0"/>
            </a:endParaRPr>
          </a:p>
          <a:p>
            <a:r>
              <a:rPr lang="pt-BR" sz="1800" dirty="0">
                <a:latin typeface="Arial Black" panose="020B0A04020102020204" pitchFamily="34" charset="0"/>
              </a:rPr>
              <a:t>O exemplo a seguir é o aviso da página do g1,mas já demonstra um padrão que também ocorre em várias </a:t>
            </a:r>
            <a:r>
              <a:rPr lang="pt-BR" sz="1800" dirty="0" err="1">
                <a:latin typeface="Arial Black" panose="020B0A04020102020204" pitchFamily="34" charset="0"/>
              </a:rPr>
              <a:t>outras.Veja</a:t>
            </a:r>
            <a:r>
              <a:rPr lang="pt-BR" sz="1800" dirty="0">
                <a:latin typeface="Arial Black" panose="020B0A04020102020204" pitchFamily="34" charset="0"/>
              </a:rPr>
              <a:t> que não existe opção de negar exposta, para acessar o site. Isso induz o usuário a aceitar sem “perceber”, e se enquadra como um tipo de </a:t>
            </a:r>
            <a:r>
              <a:rPr lang="pt-BR" sz="1800" dirty="0" err="1">
                <a:latin typeface="Arial Black" panose="020B0A04020102020204" pitchFamily="34" charset="0"/>
              </a:rPr>
              <a:t>dark</a:t>
            </a:r>
            <a:r>
              <a:rPr lang="pt-BR" sz="1800" dirty="0">
                <a:latin typeface="Arial Black" panose="020B0A04020102020204" pitchFamily="34" charset="0"/>
              </a:rPr>
              <a:t> </a:t>
            </a:r>
            <a:r>
              <a:rPr lang="pt-BR" sz="1800" dirty="0" err="1">
                <a:latin typeface="Arial Black" panose="020B0A04020102020204" pitchFamily="34" charset="0"/>
              </a:rPr>
              <a:t>pattern</a:t>
            </a:r>
            <a:r>
              <a:rPr lang="pt-BR" sz="1800" dirty="0">
                <a:latin typeface="Arial Black" panose="020B0A04020102020204" pitchFamily="34" charset="0"/>
              </a:rPr>
              <a:t>. Além disso, como a tal “política de privacidade” não é exposta, e a única opção(aceitar) é destacada com o uso de botões coloridos. </a:t>
            </a:r>
          </a:p>
          <a:p>
            <a:r>
              <a:rPr lang="pt-BR" sz="1800" dirty="0">
                <a:latin typeface="Arial Black" panose="020B0A04020102020204" pitchFamily="34" charset="0"/>
              </a:rPr>
              <a:t>Esse problema é agravado nos celulares, pois o anúncio tende a ser ainda mais invasivo, cobrir a tela inteira, de modo que o usuário clique na opção mais chamativa(aceitar o uso) para fechar.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E3F93D-44AC-47B2-9724-C55C882FE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8870"/>
            <a:ext cx="12192000" cy="74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7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6E25B-AD2D-4F9A-A2B1-829CCF13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89267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Arial Black" panose="020B0A04020102020204" pitchFamily="34" charset="0"/>
              </a:rPr>
              <a:t>Exemplo 2: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ED175B-4AEB-4777-B226-B1124CEC0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076" y="807521"/>
            <a:ext cx="10955976" cy="5890161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A seguir, acessei mais sites(principalmente portais de notícias) para pesquisar mais a fundo sobre o assunto. O caso que vou mostrar agora é do site “cnnbrasil.com.br”: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Logo de cara, é possível notar que esse se trata de uma abordagem menos agressiva, pois a opção de rejeitar está disponível ao usuário. Porém, ainda assim, como dito anteriormente, é possível observar que o botão de “aceitar” está muito mais destacado, em vermelho, enquanto o rejeitar está em cinza, ou em alguns casos, como o anterior, nem está presente. Essas cores não foram escolhidas aleatoriamente, e sim para induzir o usuário a clicar no botão mais chamativo, no caso, o “Aceitar”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20F3F0-7B07-4EEB-987C-0D637A729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316" y="1684832"/>
            <a:ext cx="3553321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72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642BD-ADC7-41AC-87B1-A81057291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Análise Jurídica: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71273B-857A-49A0-BA99-3C131F77E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 dirty="0">
                <a:latin typeface="Arial Black" panose="020B0A04020102020204" pitchFamily="34" charset="0"/>
              </a:rPr>
              <a:t>O que foi mostrado a seguir fere ou viola o Código de Defesa do Consumidor(CDC) de alguma maneira?</a:t>
            </a:r>
          </a:p>
          <a:p>
            <a:r>
              <a:rPr lang="pt-BR" sz="1800" dirty="0">
                <a:latin typeface="Arial Black" panose="020B0A04020102020204" pitchFamily="34" charset="0"/>
              </a:rPr>
              <a:t>Sim, pois se tratam de violações dos artigos “Publicidade Enganosa”(art. 37), bem como “Direito à informação clara”(art 6.III) .</a:t>
            </a:r>
          </a:p>
          <a:p>
            <a:endParaRPr lang="pt-BR" sz="1800" dirty="0">
              <a:latin typeface="Arial Black" panose="020B0A04020102020204" pitchFamily="34" charset="0"/>
            </a:endParaRPr>
          </a:p>
          <a:p>
            <a:r>
              <a:rPr lang="pt-BR" sz="1800" dirty="0">
                <a:latin typeface="Arial Black" panose="020B0A04020102020204" pitchFamily="34" charset="0"/>
              </a:rPr>
              <a:t>Pode sim ser considerado como uma violação, uma vez que esses sites utilizam de manipulação visual para esconder informações vitais ao consumidor, e induzem o mesmo a tomar decisões sem clareza total. Além disso, nos banners dos cookies, são ocultadas informações cruciais, de modo que o usuário não sabe direito o que está aceitando,ferindo o direito à informação clara.</a:t>
            </a:r>
          </a:p>
        </p:txBody>
      </p:sp>
    </p:spTree>
    <p:extLst>
      <p:ext uri="{BB962C8B-B14F-4D97-AF65-F5344CB8AC3E}">
        <p14:creationId xmlns:p14="http://schemas.microsoft.com/office/powerpoint/2010/main" val="501719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AFD98-0205-416C-839D-8BBA48C49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Conclusão: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4F57BC-1B01-4BDF-BAF2-455331165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é possível perceber nos exemplos, e também por se tratar de algo extremamente comum no nosso cotidiano, é possível afirmar que tais empresas, sites, assim como a grande maioria deles, utiliza de Dark Patterns no seu design, e opções confusas,para fazer com que o usuário aceite opções sem perceber, como por exemplo o uso de cookies ou acesso a informações sensíveis. </a:t>
            </a:r>
          </a:p>
        </p:txBody>
      </p:sp>
    </p:spTree>
    <p:extLst>
      <p:ext uri="{BB962C8B-B14F-4D97-AF65-F5344CB8AC3E}">
        <p14:creationId xmlns:p14="http://schemas.microsoft.com/office/powerpoint/2010/main" val="403304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59B52-45AC-42B9-86D1-36C5CBA6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Arial Black" panose="020B0A04020102020204" pitchFamily="34" charset="0"/>
              </a:rPr>
              <a:t>Referências: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2B1E9E-E112-4A78-AC16-8A69A2366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Sites utilizados:</a:t>
            </a:r>
          </a:p>
          <a:p>
            <a:r>
              <a:rPr lang="pt-BR" dirty="0">
                <a:hlinkClick r:id="rId2"/>
              </a:rPr>
              <a:t>https://g1.globo.com/</a:t>
            </a:r>
            <a:endParaRPr lang="pt-BR" dirty="0"/>
          </a:p>
          <a:p>
            <a:r>
              <a:rPr lang="pt-BR" dirty="0">
                <a:hlinkClick r:id="rId3"/>
              </a:rPr>
              <a:t>https://www.cnnbrasil.com.br/</a:t>
            </a:r>
            <a:endParaRPr lang="pt-BR" dirty="0"/>
          </a:p>
          <a:p>
            <a:r>
              <a:rPr lang="pt-BR" dirty="0">
                <a:hlinkClick r:id="rId4"/>
              </a:rPr>
              <a:t>https://www.google.com/</a:t>
            </a:r>
            <a:endParaRPr lang="pt-BR" dirty="0"/>
          </a:p>
          <a:p>
            <a:r>
              <a:rPr lang="pt-BR" dirty="0">
                <a:hlinkClick r:id="rId5"/>
              </a:rPr>
              <a:t>https://chatgpt.com/</a:t>
            </a:r>
            <a:endParaRPr lang="pt-BR" dirty="0"/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(obs: só foi usado o Chat </a:t>
            </a:r>
            <a:r>
              <a:rPr lang="pt-BR" dirty="0" err="1"/>
              <a:t>Gpt</a:t>
            </a:r>
            <a:r>
              <a:rPr lang="pt-BR" dirty="0"/>
              <a:t> para o último slide, para consultar conhecimento jurídico sobre leis do CDC,uma vez que sou leigo no assunto).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1941213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742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Office Theme</vt:lpstr>
      <vt:lpstr>Trabalho AC – Dark Patterns</vt:lpstr>
      <vt:lpstr>O que são Dark Patterns:</vt:lpstr>
      <vt:lpstr>Opções enganosas, Google, e o uso de “cookies”:</vt:lpstr>
      <vt:lpstr>Exemplo 2:</vt:lpstr>
      <vt:lpstr>Análise Jurídica:</vt:lpstr>
      <vt:lpstr>Conclusão:</vt:lpstr>
      <vt:lpstr>Referências: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AC – Dark Patterns</dc:title>
  <dc:creator>João Pedro Bezamat</dc:creator>
  <cp:lastModifiedBy>João Pedro Bezamat</cp:lastModifiedBy>
  <cp:revision>4</cp:revision>
  <dcterms:created xsi:type="dcterms:W3CDTF">2026-04-05T22:15:45Z</dcterms:created>
  <dcterms:modified xsi:type="dcterms:W3CDTF">2026-04-05T23:16:26Z</dcterms:modified>
</cp:coreProperties>
</file>